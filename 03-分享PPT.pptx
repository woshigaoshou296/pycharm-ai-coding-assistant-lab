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FB6FF"/>
                </a:solidFill>
                <a:latin typeface="Microsoft YaHei"/>
              </a:rPr>
              <a:t>AI 编程助手配置实训 · 方案二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为 PyCharm 配置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桌面 Agent + IDE 插件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611880"/>
            <a:ext cx="1005840" cy="54864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862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7D3E6"/>
                </a:solidFill>
                <a:latin typeface="Microsoft YaHei"/>
              </a:rPr>
              <a:t>Claude Code Agent（v2.1.283） + PyCharm 插件「Claude Code」（v0.5.7）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74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肖俊涛 · 2405100606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4681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FAFC6"/>
                </a:solidFill>
                <a:latin typeface="Microsoft YaHei"/>
              </a:rPr>
              <a:t>PyCharm 2026.2.2 (PY-262.10315.174) · Windows · 2026-10-21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6FEB"/>
                </a:solidFill>
                <a:latin typeface="Microsoft YaHei"/>
              </a:rPr>
              <a:t>判定结论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4213D"/>
                </a:solidFill>
                <a:latin typeface="Microsoft YaHei"/>
              </a:rPr>
              <a:t>先回答一个问题：我现在配的是方案几？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822960" cy="50292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YaHe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10835640" cy="86868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55648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4AA8"/>
                </a:solidFill>
                <a:latin typeface="Microsoft YaHei"/>
              </a:rPr>
              <a:t>方案二：桌面 Agent + IDE 插件模式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031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任务书写的代表工具是 AionClaw；本机装的是同架构的 Claude Code + PyCharm 插件，路线一致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97480"/>
            <a:ext cx="525780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862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6FEB"/>
                </a:solidFill>
                <a:latin typeface="Microsoft YaHei"/>
              </a:rPr>
              <a:t>证据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154680"/>
            <a:ext cx="4754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Microsoft YaHei"/>
              </a:rPr>
              <a:t>插件本身不含模型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Microsoft YaHei"/>
              </a:rPr>
              <a:t>plugins\idea-claude-code-gui v0.5.7 —— 只是交互窗口 + 桥接层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97480"/>
            <a:ext cx="525780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862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6FEB"/>
                </a:solidFill>
                <a:latin typeface="Microsoft YaHei"/>
              </a:rPr>
              <a:t>证据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154680"/>
            <a:ext cx="4754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Microsoft YaHei"/>
              </a:rPr>
              <a:t>外部确有 Agent 主程序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Microsoft YaHei"/>
              </a:rPr>
              <a:t>claude --version → 2.1.283，落在 AppData\Roaming\npm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89120"/>
            <a:ext cx="525780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5537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6FEB"/>
                </a:solidFill>
                <a:latin typeface="Microsoft YaHei"/>
              </a:rPr>
              <a:t>证据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846320"/>
            <a:ext cx="4754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Microsoft YaHei"/>
              </a:rPr>
              <a:t>会话从 IDE 内发起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5257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Microsoft YaHei"/>
              </a:rPr>
              <a:t>.idea\claudeCodeTabState.xml：provider=claude，model=claude-sonnet-5[1m]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389120"/>
            <a:ext cx="525780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45537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6FEB"/>
                </a:solidFill>
                <a:latin typeface="Microsoft YaHei"/>
              </a:rPr>
              <a:t>证据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846320"/>
            <a:ext cx="4754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Microsoft YaHei"/>
              </a:rPr>
              <a:t>API 收口在 Agent 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5257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Microsoft YaHei"/>
              </a:rPr>
              <a:t>settings.json：BASE_URL 指向 /anthropic 兼容端点，模型别名统一映射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6FEB"/>
                </a:solidFill>
                <a:latin typeface="Microsoft YaHei"/>
              </a:rPr>
              <a:t>选型理由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4213D"/>
                </a:solidFill>
                <a:latin typeface="Microsoft YaHei"/>
              </a:rPr>
              <a:t>为什么选方案二：任务形态决定了工具形态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822960" cy="50292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YaHei"/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680210"/>
            <a:ext cx="82296" cy="82296"/>
          </a:xfrm>
          <a:prstGeom prst="ellipse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600200"/>
            <a:ext cx="527608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B4AA8"/>
                </a:solidFill>
                <a:latin typeface="Microsoft YaHei"/>
              </a:rPr>
              <a:t>读陌生工程，第一步是「把链路读出来」。</a:t>
            </a:r>
            <a:r>
              <a:rPr sz="1500">
                <a:solidFill>
                  <a:srgbClr val="14213D"/>
                </a:solidFill>
                <a:latin typeface="Microsoft YaHei"/>
              </a:rPr>
              <a:t>方案一只能解释打开着的那个文件，Agent 能自己把 parser → matcher → api 走一遍。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95194"/>
            <a:ext cx="82296" cy="82296"/>
          </a:xfrm>
          <a:prstGeom prst="ellipse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615184"/>
            <a:ext cx="527608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B4AA8"/>
                </a:solidFill>
                <a:latin typeface="Microsoft YaHei"/>
              </a:rPr>
              <a:t>读完之后紧接着是改造：改代码、加用例、跑测试。</a:t>
            </a:r>
            <a:r>
              <a:rPr sz="1500">
                <a:solidFill>
                  <a:srgbClr val="14213D"/>
                </a:solidFill>
                <a:latin typeface="Microsoft YaHei"/>
              </a:rPr>
              <a:t>这是任务级动作，需要连续执行 + 看懂报错再回头改，只有 Agent 有这双手。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710178"/>
            <a:ext cx="82296" cy="82296"/>
          </a:xfrm>
          <a:prstGeom prst="ellipse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630168"/>
            <a:ext cx="527608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B4AA8"/>
                </a:solidFill>
                <a:latin typeface="Microsoft YaHei"/>
              </a:rPr>
              <a:t>API 只需收口一处。</a:t>
            </a:r>
            <a:r>
              <a:rPr sz="1500">
                <a:solidFill>
                  <a:srgbClr val="14213D"/>
                </a:solidFill>
                <a:latin typeface="Microsoft YaHei"/>
              </a:rPr>
              <a:t>Agent 侧一份 settings.json 定死端点/密钥/模型别名，IDE 侧不再各自配。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1600200"/>
            <a:ext cx="4983480" cy="23317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81051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FB6FF"/>
                </a:solidFill>
                <a:latin typeface="Microsoft YaHei"/>
              </a:rPr>
              <a:t>一句话选型逻辑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212848"/>
            <a:ext cx="4480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行级、跟随光标的工作</a:t>
            </a:r>
          </a:p>
          <a:p>
            <a:pPr algn="l">
              <a:lnSpc>
                <a:spcPct val="13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交给 IDE；</a:t>
            </a:r>
          </a:p>
          <a:p>
            <a:pPr algn="l">
              <a:lnSpc>
                <a:spcPct val="13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任务级、跨文件的工作</a:t>
            </a:r>
          </a:p>
          <a:p>
            <a:pPr algn="l">
              <a:lnSpc>
                <a:spcPct val="13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交给 Agent。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4206240"/>
            <a:ext cx="4983480" cy="1874519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438912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B4AA8"/>
                </a:solidFill>
                <a:latin typeface="Microsoft YaHei"/>
              </a:rPr>
              <a:t>本机还有方案一的对照组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4736592"/>
            <a:ext cx="4526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4213D"/>
                </a:solidFill>
                <a:latin typeface="Microsoft YaHei"/>
              </a:rPr>
              <a:t>Comate 4.14.0 / Copilot 1.17.0 / Qoder CN 2026.917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4213D"/>
                </a:solidFill>
                <a:latin typeface="Microsoft YaHei"/>
              </a:rPr>
              <a:t>都在同一台机器、同一个工程里跑过——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4213D"/>
                </a:solidFill>
                <a:latin typeface="Microsoft YaHei"/>
              </a:rPr>
              <a:t>对比数据来自实测，不是查资料。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6FEB"/>
                </a:solidFill>
                <a:latin typeface="Microsoft YaHei"/>
              </a:rPr>
              <a:t>实施路径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4213D"/>
                </a:solidFill>
                <a:latin typeface="Microsoft YaHei"/>
              </a:rPr>
              <a:t>安装：先装手，再装窗口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822960" cy="50292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YaHe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42900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7830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6FEB"/>
                </a:solidFill>
                <a:latin typeface="Microsoft YaHei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084831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Microsoft YaHei"/>
              </a:rPr>
              <a:t>装 Node 与 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578608"/>
            <a:ext cx="2971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4AA8"/>
                </a:solidFill>
                <a:latin typeface="Microsoft YaHei"/>
              </a:rPr>
              <a:t>npm i -g @anthropic-ai/claude-code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4AA8"/>
                </a:solidFill>
                <a:latin typeface="Microsoft YaHei"/>
              </a:rPr>
              <a:t>claude --version → 2.1.283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3075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Agent 主程序：读写文件、跑命令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2231" y="269748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D6DEEA"/>
                </a:solidFill>
                <a:latin typeface="Microsoft YaHei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600200"/>
            <a:ext cx="342900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7830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6FEB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084831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Microsoft YaHei"/>
              </a:rPr>
              <a:t>PyCharm 装插件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578608"/>
            <a:ext cx="2971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4AA8"/>
                </a:solidFill>
                <a:latin typeface="Microsoft YaHei"/>
              </a:rPr>
              <a:t>Settings → Plugins →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4AA8"/>
                </a:solidFill>
                <a:latin typeface="Microsoft YaHei"/>
              </a:rPr>
              <a:t>搜 Claude Code → Install → 重启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373075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交互窗口 + 上下文桥接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4" y="269748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D6DEEA"/>
                </a:solidFill>
                <a:latin typeface="Microsoft YaHei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5864" y="1600200"/>
            <a:ext cx="342900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17830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6FEB"/>
                </a:solidFill>
                <a:latin typeface="Microsoft YaHei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2084831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Microsoft YaHei"/>
              </a:rPr>
              <a:t>打开面板握手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2578608"/>
            <a:ext cx="2971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4AA8"/>
                </a:solidFill>
                <a:latin typeface="Microsoft YaHei"/>
              </a:rPr>
              <a:t>右侧 Claude Code 图标 →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4AA8"/>
                </a:solidFill>
                <a:latin typeface="Microsoft YaHei"/>
              </a:rPr>
              <a:t>生成 .idea\claudeCodeTabState.xml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373075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握手成功的证据文件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85800" y="4572000"/>
          <a:ext cx="108356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4023360"/>
                <a:gridCol w="342900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组件</a:t>
                      </a:r>
                    </a:p>
                  </a:txBody>
                  <a:tcPr marL="91440" marR="73152" marT="36576" marB="36576" anchor="ctr">
                    <a:solidFill>
                      <a:srgbClr val="1B4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版本 / 路径</a:t>
                      </a:r>
                    </a:p>
                  </a:txBody>
                  <a:tcPr marL="91440" marR="73152" marT="36576" marB="36576" anchor="ctr">
                    <a:solidFill>
                      <a:srgbClr val="1B4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 marL="91440" marR="73152" marT="36576" marB="36576" anchor="ctr">
                    <a:solidFill>
                      <a:srgbClr val="1B4AA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13D"/>
                          </a:solidFill>
                          <a:latin typeface="Microsoft YaHei"/>
                        </a:rPr>
                        <a:t>PyCharm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13D"/>
                          </a:solidFill>
                          <a:latin typeface="Microsoft YaHei"/>
                        </a:rPr>
                        <a:t>2026.2.2 · PY-262.10315.174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13D"/>
                          </a:solidFill>
                          <a:latin typeface="Microsoft YaHei"/>
                        </a:rPr>
                        <a:t>解释器、调试、诊断、上下文来源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13D"/>
                          </a:solidFill>
                          <a:latin typeface="Microsoft YaHei"/>
                        </a:rPr>
                        <a:t>插件 idea-claude-code-gui</a:t>
                      </a:r>
                    </a:p>
                  </a:txBody>
                  <a:tcPr marL="91440" marR="73152" marT="36576" marB="36576" anchor="ctr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13D"/>
                          </a:solidFill>
                          <a:latin typeface="Microsoft YaHei"/>
                        </a:rPr>
                        <a:t>0.5.7</a:t>
                      </a:r>
                    </a:p>
                  </a:txBody>
                  <a:tcPr marL="91440" marR="73152" marT="36576" marB="36576" anchor="ctr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13D"/>
                          </a:solidFill>
                          <a:latin typeface="Microsoft YaHei"/>
                        </a:rPr>
                        <a:t>会话界面，把改动以 diff 回填</a:t>
                      </a:r>
                    </a:p>
                  </a:txBody>
                  <a:tcPr marL="91440" marR="73152" marT="36576" marB="36576" anchor="ctr">
                    <a:solidFill>
                      <a:srgbClr val="EEF3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13D"/>
                          </a:solidFill>
                          <a:latin typeface="Microsoft YaHei"/>
                        </a:rPr>
                        <a:t>Claude Code CLI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13D"/>
                          </a:solidFill>
                          <a:latin typeface="Microsoft YaHei"/>
                        </a:rPr>
                        <a:t>2.1.283 · Node v24.17.0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13D"/>
                          </a:solidFill>
                          <a:latin typeface="Microsoft YaHei"/>
                        </a:rPr>
                        <a:t>执行：Read / Write / Edit / Bash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6FEB"/>
                </a:solidFill>
                <a:latin typeface="Microsoft YaHei"/>
              </a:rPr>
              <a:t>关键配置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4213D"/>
                </a:solidFill>
                <a:latin typeface="Microsoft YaHei"/>
              </a:rPr>
              <a:t>配置：API 地址、模型名、角色分工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822960" cy="50292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YaHe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5577840" cy="2103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556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FB6FF"/>
                </a:solidFill>
                <a:latin typeface="Microsoft YaHei"/>
              </a:rPr>
              <a:t>C:\Users\16218\.claude\settings.json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84831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C9E3FF"/>
                </a:solidFill>
                <a:latin typeface="Microsoft YaHei"/>
              </a:rPr>
              <a:t>"ANTHROPIC_BASE_URL": "https://api.deepseek.com/anthropic",</a:t>
            </a:r>
          </a:p>
          <a:p>
            <a:pPr algn="l">
              <a:lnSpc>
                <a:spcPct val="145000"/>
              </a:lnSpc>
            </a:pPr>
            <a:r>
              <a:rPr sz="1150" b="0">
                <a:solidFill>
                  <a:srgbClr val="C9E3FF"/>
                </a:solidFill>
                <a:latin typeface="Microsoft YaHei"/>
              </a:rPr>
              <a:t>"ANTHROPIC_AUTH_TOKEN": "sk-****（脱敏）",</a:t>
            </a:r>
          </a:p>
          <a:p>
            <a:pPr algn="l">
              <a:lnSpc>
                <a:spcPct val="145000"/>
              </a:lnSpc>
            </a:pPr>
            <a:r>
              <a:rPr sz="1150" b="0">
                <a:solidFill>
                  <a:srgbClr val="C9E3FF"/>
                </a:solidFill>
                <a:latin typeface="Microsoft YaHei"/>
              </a:rPr>
              <a:t>"ANTHROPIC_DEFAULT_SONNET_MODEL": "deepseek-flash"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3886200"/>
          <a:ext cx="557784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74320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插件下拉显示</a:t>
                      </a:r>
                    </a:p>
                  </a:txBody>
                  <a:tcPr marL="91440" marR="73152" marT="36576" marB="36576" anchor="ctr">
                    <a:solidFill>
                      <a:srgbClr val="1B4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实际模型</a:t>
                      </a:r>
                    </a:p>
                  </a:txBody>
                  <a:tcPr marL="91440" marR="73152" marT="36576" marB="36576" anchor="ctr">
                    <a:solidFill>
                      <a:srgbClr val="1B4AA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13D"/>
                          </a:solidFill>
                          <a:latin typeface="Microsoft YaHei"/>
                        </a:rPr>
                        <a:t>Sonnet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13D"/>
                          </a:solidFill>
                          <a:latin typeface="Microsoft YaHei"/>
                        </a:rPr>
                        <a:t>deepseek-flash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13D"/>
                          </a:solidFill>
                          <a:latin typeface="Microsoft YaHei"/>
                        </a:rPr>
                        <a:t>Opus / Haiku / 兜底</a:t>
                      </a:r>
                    </a:p>
                  </a:txBody>
                  <a:tcPr marL="91440" marR="73152" marT="36576" marB="36576" anchor="ctr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13D"/>
                          </a:solidFill>
                          <a:latin typeface="Microsoft YaHei"/>
                        </a:rPr>
                        <a:t>deepseek-flash</a:t>
                      </a:r>
                    </a:p>
                  </a:txBody>
                  <a:tcPr marL="91440" marR="73152" marT="36576" marB="36576" anchor="ctr"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" y="4983480"/>
            <a:ext cx="5577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Microsoft YaHei"/>
              </a:rPr>
              <a:t>模型名以网关回显为准：历史会话计费记录里服务端返回的是 DeepSeek-V4-Pro。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600200"/>
            <a:ext cx="4937760" cy="457200"/>
          </a:xfrm>
          <a:prstGeom prst="rect">
            <a:avLst/>
          </a:prstGeom>
          <a:solidFill>
            <a:srgbClr val="1B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73352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角色分工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194560"/>
            <a:ext cx="4937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322576"/>
            <a:ext cx="1920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4AA8"/>
                </a:solidFill>
                <a:latin typeface="Microsoft YaHei"/>
              </a:rPr>
              <a:t>IDE（PyCharm）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697480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4213D"/>
                </a:solidFill>
                <a:latin typeface="Microsoft YaHei"/>
              </a:rPr>
              <a:t>给上下文：解释器、断点、诊断、Git 视图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337560"/>
            <a:ext cx="4937760" cy="1051560"/>
          </a:xfrm>
          <a:prstGeom prst="rect">
            <a:avLst/>
          </a:prstGeom>
          <a:solidFill>
            <a:srgbClr val="EEF3FC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8" y="3465576"/>
            <a:ext cx="1920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4AA8"/>
                </a:solidFill>
                <a:latin typeface="Microsoft YaHei"/>
              </a:rPr>
              <a:t>插件（GUI）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3840480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4213D"/>
                </a:solidFill>
                <a:latin typeface="Microsoft YaHei"/>
              </a:rPr>
              <a:t>给界面：会话渲染、diff 回填、上下文投递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480560"/>
            <a:ext cx="4937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4608576"/>
            <a:ext cx="1920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4AA8"/>
                </a:solidFill>
                <a:latin typeface="Microsoft YaHei"/>
              </a:rPr>
              <a:t>Agent（CLI）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4983480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4213D"/>
                </a:solidFill>
                <a:latin typeface="Microsoft YaHei"/>
              </a:rPr>
              <a:t>给手脚：读写文件、执行命令、多步编排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7150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6B7280"/>
                </a:solidFill>
                <a:latin typeface="Microsoft YaHei"/>
              </a:rPr>
              <a:t>一句话：IDE 给上下文，插件给界面，Agent 给手脚。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6FEB"/>
                </a:solidFill>
                <a:latin typeface="Microsoft YaHei"/>
              </a:rPr>
              <a:t>功能验证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4213D"/>
                </a:solidFill>
                <a:latin typeface="Microsoft YaHei"/>
              </a:rPr>
              <a:t>验证一：对话 —— 代码逐行解释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822960" cy="50292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YaHei"/>
              </a:rPr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672209"/>
            <a:ext cx="82296" cy="82296"/>
          </a:xfrm>
          <a:prstGeom prst="ellipse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600200"/>
            <a:ext cx="463600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B4AA8"/>
                </a:solidFill>
                <a:latin typeface="Microsoft YaHei"/>
              </a:rPr>
              <a:t>提问：</a:t>
            </a:r>
            <a:r>
              <a:rPr sz="1350">
                <a:solidFill>
                  <a:srgbClr val="14213D"/>
                </a:solidFill>
                <a:latin typeface="Microsoft YaHei"/>
              </a:rPr>
              <a:t>「为我解释每一行代码作用以及每一个包每一个函数是干什么的」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577465"/>
            <a:ext cx="82296" cy="82296"/>
          </a:xfrm>
          <a:prstGeom prst="ellipse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505456"/>
            <a:ext cx="463600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B4AA8"/>
                </a:solidFill>
                <a:latin typeface="Microsoft YaHei"/>
              </a:rPr>
              <a:t>输入：</a:t>
            </a:r>
            <a:r>
              <a:rPr sz="1350">
                <a:solidFill>
                  <a:srgbClr val="14213D"/>
                </a:solidFill>
                <a:latin typeface="Microsoft YaHei"/>
              </a:rPr>
              <a:t>G:\PycharmProjects\test.py（KMeans 四簇聚类示例）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482721"/>
            <a:ext cx="82296" cy="82296"/>
          </a:xfrm>
          <a:prstGeom prst="ellipse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410712"/>
            <a:ext cx="463600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B4AA8"/>
                </a:solidFill>
                <a:latin typeface="Microsoft YaHei"/>
              </a:rPr>
              <a:t>结果：</a:t>
            </a:r>
            <a:r>
              <a:rPr sz="1350">
                <a:solidFill>
                  <a:srgbClr val="14213D"/>
                </a:solidFill>
                <a:latin typeface="Microsoft YaHei"/>
              </a:rPr>
              <a:t>讲清 make_blobs 的 n_features=2 是为二维可视化服务、centers 必须是 4 个 2 维点、fit_predict 一步完成拟合+打标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648581"/>
            <a:ext cx="82296" cy="82296"/>
          </a:xfrm>
          <a:prstGeom prst="ellipse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576572"/>
            <a:ext cx="463600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B4AA8"/>
                </a:solidFill>
                <a:latin typeface="Microsoft YaHei"/>
              </a:rPr>
              <a:t>价值：</a:t>
            </a:r>
            <a:r>
              <a:rPr sz="1350">
                <a:solidFill>
                  <a:srgbClr val="14213D"/>
                </a:solidFill>
                <a:latin typeface="Microsoft YaHei"/>
              </a:rPr>
              <a:t>把「隐含约束」讲出来，而不只是翻译语法</a:t>
            </a:r>
          </a:p>
        </p:txBody>
      </p:sp>
      <p:pic>
        <p:nvPicPr>
          <p:cNvPr id="15" name="Picture 14" descr="03-dialog-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600200"/>
            <a:ext cx="5715000" cy="35718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06440" y="5248656"/>
            <a:ext cx="5715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Claude Code 面板内的逐行解释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6FEB"/>
                </a:solidFill>
                <a:latin typeface="Microsoft YaHei"/>
              </a:rPr>
              <a:t>功能验证 2/3 ·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4213D"/>
                </a:solidFill>
                <a:latin typeface="Microsoft YaHei"/>
              </a:rPr>
              <a:t>验证二、三：补全/测试生成 + Agent 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822960" cy="50292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YaHei"/>
              </a:rPr>
              <a:t>7</a:t>
            </a:r>
          </a:p>
        </p:txBody>
      </p:sp>
      <p:pic>
        <p:nvPicPr>
          <p:cNvPr id="7" name="Picture 6" descr="04-completion-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5303520" cy="3314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99262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行内补全 / Agent 生成的 pytest 用例</a:t>
            </a:r>
          </a:p>
        </p:txBody>
      </p:sp>
      <p:pic>
        <p:nvPicPr>
          <p:cNvPr id="9" name="Picture 8" descr="05-agent-t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00200"/>
            <a:ext cx="5303520" cy="3314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499262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YaHei"/>
              </a:rPr>
              <a:t>Agent：跑测试 → 改错 → 重跑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440680"/>
            <a:ext cx="5303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4213D"/>
                </a:solidFill>
                <a:latin typeface="Microsoft YaHei"/>
              </a:rPr>
              <a:t>补全是方案一的主场：Tab 接受，零打断。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4213D"/>
                </a:solidFill>
                <a:latin typeface="Microsoft YaHei"/>
              </a:rPr>
              <a:t>但「写用例 + 运行 + 失败后自己改」只有 Agent 走得完。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440680"/>
            <a:ext cx="5303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4213D"/>
                </a:solidFill>
                <a:latin typeface="Microsoft YaHei"/>
              </a:rPr>
              <a:t>任务式指令：「跑一下 test.py，报错就定位修好，改完再跑确认」。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4213D"/>
                </a:solidFill>
                <a:latin typeface="Microsoft YaHei"/>
              </a:rPr>
              <a:t>时间线出 Bash → Read/Edit → Bash，全程不用复制报错。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6FEB"/>
                </a:solidFill>
                <a:latin typeface="Microsoft YaHei"/>
              </a:rPr>
              <a:t>方案一 vs 方案二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4213D"/>
                </a:solidFill>
                <a:latin typeface="Microsoft YaHei"/>
              </a:rPr>
              <a:t>对比：建议层 vs 执行层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822960" cy="50292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YaHei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00200"/>
          <a:ext cx="108356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206240"/>
                <a:gridCol w="4480560"/>
              </a:tblGrid>
              <a:tr h="56692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91440" marR="73152" marT="36576" marB="36576" anchor="ctr">
                    <a:solidFill>
                      <a:srgbClr val="1B4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方案一（纯 IDE 插件）</a:t>
                      </a:r>
                    </a:p>
                  </a:txBody>
                  <a:tcPr marL="91440" marR="73152" marT="36576" marB="36576" anchor="ctr">
                    <a:solidFill>
                      <a:srgbClr val="1B4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方案二（Agent + 插件）</a:t>
                      </a:r>
                    </a:p>
                  </a:txBody>
                  <a:tcPr marL="91440" marR="73152" marT="36576" marB="36576" anchor="ctr">
                    <a:solidFill>
                      <a:srgbClr val="1B4A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4213D"/>
                          </a:solidFill>
                          <a:latin typeface="Microsoft YaHei"/>
                        </a:rPr>
                        <a:t>执行主体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4213D"/>
                          </a:solidFill>
                          <a:latin typeface="Microsoft YaHei"/>
                        </a:rPr>
                        <a:t>IDE 进程内的客户端，无执行权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4213D"/>
                          </a:solidFill>
                          <a:latin typeface="Microsoft YaHei"/>
                        </a:rPr>
                        <a:t>IDE 外的独立进程，有文件与命令执行权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4213D"/>
                          </a:solidFill>
                          <a:latin typeface="Microsoft YaHei"/>
                        </a:rPr>
                        <a:t>响应节奏</a:t>
                      </a:r>
                    </a:p>
                  </a:txBody>
                  <a:tcPr marL="91440" marR="73152" marT="36576" marB="36576" anchor="ctr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4213D"/>
                          </a:solidFill>
                          <a:latin typeface="Microsoft YaHei"/>
                        </a:rPr>
                        <a:t>0.5–1.5 秒内出补全（Comate 配置）</a:t>
                      </a:r>
                    </a:p>
                  </a:txBody>
                  <a:tcPr marL="91440" marR="73152" marT="36576" marB="36576" anchor="ctr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4213D"/>
                          </a:solidFill>
                          <a:latin typeface="Microsoft YaHei"/>
                        </a:rPr>
                        <a:t>单轮 API 约 80 秒，任务总时长可达数分钟</a:t>
                      </a:r>
                    </a:p>
                  </a:txBody>
                  <a:tcPr marL="91440" marR="73152" marT="36576" marB="36576" anchor="ctr">
                    <a:solidFill>
                      <a:srgbClr val="EEF3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4213D"/>
                          </a:solidFill>
                          <a:latin typeface="Microsoft YaHei"/>
                        </a:rPr>
                        <a:t>上下文范围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4213D"/>
                          </a:solidFill>
                          <a:latin typeface="Microsoft YaHei"/>
                        </a:rPr>
                        <a:t>当前文件 + 约 30 行相邻上下文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4213D"/>
                          </a:solidFill>
                          <a:latin typeface="Microsoft YaHei"/>
                        </a:rPr>
                        <a:t>整个工程，可自行 Read / Grep 任意文件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4213D"/>
                          </a:solidFill>
                          <a:latin typeface="Microsoft YaHei"/>
                        </a:rPr>
                        <a:t>典型输入</a:t>
                      </a:r>
                    </a:p>
                  </a:txBody>
                  <a:tcPr marL="91440" marR="73152" marT="36576" marB="36576" anchor="ctr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4213D"/>
                          </a:solidFill>
                          <a:latin typeface="Microsoft YaHei"/>
                        </a:rPr>
                        <a:t>「补全这个函数」「解释这段」</a:t>
                      </a:r>
                    </a:p>
                  </a:txBody>
                  <a:tcPr marL="91440" marR="73152" marT="36576" marB="36576" anchor="ctr"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4213D"/>
                          </a:solidFill>
                          <a:latin typeface="Microsoft YaHei"/>
                        </a:rPr>
                        <a:t>「跑通 test.py，报错就修好」</a:t>
                      </a:r>
                    </a:p>
                  </a:txBody>
                  <a:tcPr marL="91440" marR="73152" marT="36576" marB="36576" anchor="ctr">
                    <a:solidFill>
                      <a:srgbClr val="EEF3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4213D"/>
                          </a:solidFill>
                          <a:latin typeface="Microsoft YaHei"/>
                        </a:rPr>
                        <a:t>主要成本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4213D"/>
                          </a:solidFill>
                          <a:latin typeface="Microsoft YaHei"/>
                        </a:rPr>
                        <a:t>订阅费固定，风险约等于零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4213D"/>
                          </a:solidFill>
                          <a:latin typeface="Microsoft YaHei"/>
                        </a:rPr>
                        <a:t>按 token 计费（单轮约 3 万 input），改错有代价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5532120"/>
            <a:ext cx="10835640" cy="68580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B4AA8"/>
                </a:solidFill>
                <a:latin typeface="Microsoft YaHei"/>
              </a:rPr>
              <a:t>结论：不是替代关系 —— 方案一守「写」这一段，方案二覆盖「读进来」与「跑出去」两端。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6FEB"/>
                </a:solidFill>
                <a:latin typeface="Microsoft YaHei"/>
              </a:rPr>
              <a:t>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4213D"/>
                </a:solidFill>
                <a:latin typeface="Microsoft YaHei"/>
              </a:rPr>
              <a:t>踩过的坑，和如果重来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822960" cy="50292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Microsoft YaHe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4AA8"/>
                </a:solidFill>
                <a:latin typeface="Microsoft YaHei"/>
              </a:rPr>
              <a:t>真实踩坑（均有报错/痕迹为证）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38528"/>
            <a:ext cx="5074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2996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Microsoft YaHei"/>
              </a:rPr>
              <a:t>%matplotlib inline 报 SyntaxError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2257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Microsoft YaHei"/>
              </a:rPr>
              <a:t>魔法命令只在 .ipynb 有效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43200"/>
            <a:ext cx="5074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3464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Microsoft YaHei"/>
              </a:rPr>
              <a:t>sklearn 私有模块 _samples_generator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2724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Microsoft YaHei"/>
              </a:rPr>
              <a:t>公开 API 是 datasets.make_blobs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547872"/>
            <a:ext cx="5074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3931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Microsoft YaHei"/>
              </a:rPr>
              <a:t>面板空白 / 找不到 claude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319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Microsoft YaHei"/>
              </a:rPr>
              <a:t>插件只是窗口，CLI 必须先在 PATH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352544"/>
            <a:ext cx="5074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43983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Microsoft YaHei"/>
              </a:rPr>
              <a:t>第三方端点 401 / model not found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3659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Microsoft YaHei"/>
              </a:rPr>
              <a:t>URL 要带 /anthropic、四个别名要写全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157216"/>
            <a:ext cx="5074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248655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4213D"/>
                </a:solidFill>
                <a:latin typeface="Microsoft YaHei"/>
              </a:rPr>
              <a:t>中文注释乱码（鏇存敼…）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54126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Microsoft YaHei"/>
              </a:rPr>
              <a:t>File Encodings 三项统一 UTF-8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572768"/>
            <a:ext cx="5394960" cy="1874519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FB6FF"/>
                </a:solidFill>
                <a:latin typeface="Microsoft YaHei"/>
              </a:rPr>
              <a:t>使用心得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084831"/>
            <a:ext cx="4937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① 「问」和「派活」是两种交互，别混用。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② 让 Agent 先 Read + 说计划，再放开写权限。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③ 读码用默认模式，机械活用 acceptEdits。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630168"/>
            <a:ext cx="5394960" cy="2331720"/>
          </a:xfrm>
          <a:prstGeom prst="rect">
            <a:avLst/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785615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B4AA8"/>
                </a:solidFill>
                <a:latin typeface="Microsoft YaHei"/>
              </a:rPr>
              <a:t>如果重来：换插件侧，不换 Agent 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160520"/>
            <a:ext cx="4983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4213D"/>
                </a:solidFill>
                <a:latin typeface="Microsoft YaHei"/>
              </a:rPr>
              <a:t>「插件 + 外部 CLI」的版本耦合与上下文延迟是真实摩擦；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14213D"/>
                </a:solidFill>
                <a:latin typeface="Microsoft YaHei"/>
              </a:rPr>
              <a:t>一体化 IDE（Qoder / Trae 一类）把三个件收进一个发布包。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14213D"/>
                </a:solidFill>
                <a:latin typeface="Microsoft YaHei"/>
              </a:rPr>
              <a:t>但选型的分界线不变：任务里有没有「执行」这一环。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14213D"/>
                </a:solidFill>
                <a:latin typeface="Microsoft YaHei"/>
              </a:rPr>
              <a:t>所以重来一次换的只是窗口，Agent 那双手不动。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FB6FF"/>
                </a:solidFill>
                <a:latin typeface="Microsoft YaHei"/>
              </a:rPr>
              <a:t>5 分钟分享 · 现场可操作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谢谢，欢迎提问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1188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C7D3E6"/>
                </a:solidFill>
                <a:latin typeface="Microsoft YaHei"/>
              </a:rPr>
              <a:t>一个可以直接复现的结论：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C7D3E6"/>
                </a:solidFill>
                <a:latin typeface="Microsoft YaHei"/>
              </a:rPr>
              <a:t>先装手（Agent），再装窗口（插件），配置收口到 settings.json 一处。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9496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AFC6"/>
                </a:solidFill>
                <a:latin typeface="Microsoft YaHei"/>
              </a:rPr>
              <a:t>肖俊涛 · 2405100606 · 2026-10-21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