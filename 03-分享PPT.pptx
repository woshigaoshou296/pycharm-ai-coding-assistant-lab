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3" r:id="rId8"/>
    <p:sldId id="265" r:id="rId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8FB6FF"/>
                </a:solidFill>
                <a:latin typeface="微软雅黑" panose="020B0503020204020204" charset="-122"/>
              </a:rPr>
              <a:t>AI 编程助手配置实训 · 方案二</a:t>
            </a:r>
            <a:endParaRPr sz="1500" b="1">
              <a:solidFill>
                <a:srgbClr val="8FB6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1874519"/>
            <a:ext cx="10607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</a:rPr>
              <a:t>为 PyCharm 配置</a:t>
            </a:r>
            <a:endParaRPr sz="40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</a:rPr>
              <a:t>桌面 Agent + IDE 插件</a:t>
            </a:r>
            <a:endParaRPr sz="4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1005840" cy="54864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8620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7D3E6"/>
                </a:solidFill>
                <a:latin typeface="微软雅黑" panose="020B0503020204020204" charset="-122"/>
              </a:rPr>
              <a:t>Claude Code Agent（v2.1.283） + PyCharm 插件「Claude Code」（v0.5.7）</a:t>
            </a:r>
            <a:endParaRPr sz="1800" b="0">
              <a:solidFill>
                <a:srgbClr val="C7D3E6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5074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肖俊涛 · 2405100606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546811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FAFC6"/>
                </a:solidFill>
                <a:latin typeface="微软雅黑" panose="020B0503020204020204" charset="-122"/>
              </a:rPr>
              <a:t>PyCharm 2026.2.2 (PY-262.10315.174) · Windows · 2026-10-21</a:t>
            </a:r>
            <a:endParaRPr sz="1300" b="0">
              <a:solidFill>
                <a:srgbClr val="9FAFC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微软雅黑" panose="020B0503020204020204" charset="-122"/>
              </a:rPr>
              <a:t>判定结论</a:t>
            </a:r>
            <a:endParaRPr sz="12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微软雅黑" panose="020B0503020204020204" charset="-122"/>
              </a:rPr>
              <a:t>先回答一个问题：我现在配的是方案几？</a:t>
            </a:r>
            <a:endParaRPr sz="29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微软雅黑" panose="020B0503020204020204" charset="-122"/>
              </a:rPr>
              <a:t>2</a:t>
            </a:r>
            <a:endParaRPr sz="11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10835640" cy="868680"/>
          </a:xfrm>
          <a:prstGeom prst="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B4AA8"/>
                </a:solidFill>
                <a:latin typeface="微软雅黑" panose="020B0503020204020204" charset="-122"/>
              </a:rPr>
              <a:t>方案二：桌面 Agent + IDE 插件模式</a:t>
            </a:r>
            <a:endParaRPr sz="2400" b="1">
              <a:solidFill>
                <a:srgbClr val="1B4AA8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6112" y="210312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微软雅黑" panose="020B0503020204020204" charset="-122"/>
              </a:rPr>
              <a:t>任务书写的代表工具是 AionClaw；本机装的是同架构的 Claude Code + PyCharm 插件，路线一致</a:t>
            </a:r>
            <a:endParaRPr sz="12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5800" y="2697480"/>
            <a:ext cx="525780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8620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微软雅黑" panose="020B0503020204020204" charset="-122"/>
              </a:rPr>
              <a:t>证据 1</a:t>
            </a:r>
            <a:endParaRPr sz="11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41832" y="3154680"/>
            <a:ext cx="47548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微软雅黑" panose="020B0503020204020204" charset="-122"/>
              </a:rPr>
              <a:t>插件本身不含模型</a:t>
            </a:r>
            <a:endParaRPr sz="16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41832" y="356616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微软雅黑" panose="020B0503020204020204" charset="-122"/>
              </a:rPr>
              <a:t>plugins\idea-claude-code-gui v0.5.7 —— 只是交互窗口 + 桥接层</a:t>
            </a:r>
            <a:endParaRPr sz="115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17920" y="2697480"/>
            <a:ext cx="525780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8620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微软雅黑" panose="020B0503020204020204" charset="-122"/>
              </a:rPr>
              <a:t>证据 2</a:t>
            </a:r>
            <a:endParaRPr sz="11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73952" y="3154680"/>
            <a:ext cx="47548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微软雅黑" panose="020B0503020204020204" charset="-122"/>
              </a:rPr>
              <a:t>外部确有 Agent 主程序</a:t>
            </a:r>
            <a:endParaRPr sz="16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73952" y="356616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微软雅黑" panose="020B0503020204020204" charset="-122"/>
              </a:rPr>
              <a:t>claude --version → 2.1.283，落在 AppData\Roaming\npm</a:t>
            </a:r>
            <a:endParaRPr sz="115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85800" y="4389120"/>
            <a:ext cx="525780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553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微软雅黑" panose="020B0503020204020204" charset="-122"/>
              </a:rPr>
              <a:t>证据 3</a:t>
            </a:r>
            <a:endParaRPr sz="11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41832" y="4846320"/>
            <a:ext cx="47548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微软雅黑" panose="020B0503020204020204" charset="-122"/>
              </a:rPr>
              <a:t>会话从 IDE 内发起</a:t>
            </a:r>
            <a:endParaRPr sz="16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41832" y="52578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微软雅黑" panose="020B0503020204020204" charset="-122"/>
              </a:rPr>
              <a:t>.idea\claudeCodeTabState.xml：provider=claude，model=claude-sonnet-5[1m]</a:t>
            </a:r>
            <a:endParaRPr sz="115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217920" y="4389120"/>
            <a:ext cx="525780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4553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微软雅黑" panose="020B0503020204020204" charset="-122"/>
              </a:rPr>
              <a:t>证据 4</a:t>
            </a:r>
            <a:endParaRPr sz="11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73952" y="4846320"/>
            <a:ext cx="47548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微软雅黑" panose="020B0503020204020204" charset="-122"/>
              </a:rPr>
              <a:t>API 收口在 Agent 侧</a:t>
            </a:r>
            <a:endParaRPr sz="16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73952" y="52578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微软雅黑" panose="020B0503020204020204" charset="-122"/>
              </a:rPr>
              <a:t>settings.json：BASE_URL 指向 /anthropic 兼容端点，模型别名统一映射</a:t>
            </a:r>
            <a:endParaRPr sz="115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微软雅黑" panose="020B0503020204020204" charset="-122"/>
              </a:rPr>
              <a:t>选型理由</a:t>
            </a:r>
            <a:endParaRPr sz="12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微软雅黑" panose="020B0503020204020204" charset="-122"/>
              </a:rPr>
              <a:t>为什么选方案二：任务形态决定了工具形态</a:t>
            </a:r>
            <a:endParaRPr sz="29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微软雅黑" panose="020B0503020204020204" charset="-122"/>
              </a:rPr>
              <a:t>3</a:t>
            </a:r>
            <a:endParaRPr sz="11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7" name="Oval 6"/>
          <p:cNvSpPr/>
          <p:nvPr/>
        </p:nvSpPr>
        <p:spPr>
          <a:xfrm>
            <a:off x="685800" y="1680210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600200"/>
            <a:ext cx="52760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1B4AA8"/>
                </a:solidFill>
                <a:latin typeface="微软雅黑" panose="020B0503020204020204" charset="-122"/>
              </a:rPr>
              <a:t>读陌生工程，第一步是「把链路读出来」。</a:t>
            </a:r>
            <a:r>
              <a:rPr sz="1500">
                <a:solidFill>
                  <a:srgbClr val="14213D"/>
                </a:solidFill>
                <a:latin typeface="微软雅黑" panose="020B0503020204020204" charset="-122"/>
              </a:rPr>
              <a:t>方案一只能解释打开着的那个文件，Agent 能自己把 parser → matcher → api 走一遍。</a:t>
            </a:r>
            <a:endParaRPr sz="1500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685800" y="2695194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615184"/>
            <a:ext cx="52760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1B4AA8"/>
                </a:solidFill>
                <a:latin typeface="微软雅黑" panose="020B0503020204020204" charset="-122"/>
              </a:rPr>
              <a:t>读完之后紧接着是改造：改代码、加用例、跑测试。</a:t>
            </a:r>
            <a:r>
              <a:rPr sz="1500">
                <a:solidFill>
                  <a:srgbClr val="14213D"/>
                </a:solidFill>
                <a:latin typeface="微软雅黑" panose="020B0503020204020204" charset="-122"/>
              </a:rPr>
              <a:t>这是任务级动作，需要连续执行 + 看懂报错再回头改，只有 Agent 有这双手。</a:t>
            </a:r>
            <a:endParaRPr sz="1500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5800" y="3710178"/>
            <a:ext cx="82296" cy="82296"/>
          </a:xfrm>
          <a:prstGeom prst="ellipse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630168"/>
            <a:ext cx="52760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1B4AA8"/>
                </a:solidFill>
                <a:latin typeface="微软雅黑" panose="020B0503020204020204" charset="-122"/>
              </a:rPr>
              <a:t>API 只需收口一处。</a:t>
            </a:r>
            <a:r>
              <a:rPr sz="1500">
                <a:solidFill>
                  <a:srgbClr val="14213D"/>
                </a:solidFill>
                <a:latin typeface="微软雅黑" panose="020B0503020204020204" charset="-122"/>
              </a:rPr>
              <a:t>Agent 侧一份 settings.json 定死端点/密钥/模型别名，IDE 侧不再各自配。</a:t>
            </a:r>
            <a:endParaRPr sz="1500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537960" y="1600200"/>
            <a:ext cx="4983480" cy="233172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1810512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FB6FF"/>
                </a:solidFill>
                <a:latin typeface="微软雅黑" panose="020B0503020204020204" charset="-122"/>
              </a:rPr>
              <a:t>一句话选型逻辑</a:t>
            </a:r>
            <a:endParaRPr sz="1200" b="1">
              <a:solidFill>
                <a:srgbClr val="8FB6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12280" y="2212848"/>
            <a:ext cx="44805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行级、跟随光标的工作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交给 IDE；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任务级、跨文件的工作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交给 Agent。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537960" y="4206240"/>
            <a:ext cx="4983480" cy="1874519"/>
          </a:xfrm>
          <a:prstGeom prst="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389120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4AA8"/>
                </a:solidFill>
                <a:latin typeface="微软雅黑" panose="020B0503020204020204" charset="-122"/>
              </a:rPr>
              <a:t>本机还有方案一的对照组</a:t>
            </a:r>
            <a:endParaRPr sz="1200" b="1">
              <a:solidFill>
                <a:srgbClr val="1B4AA8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12280" y="4736592"/>
            <a:ext cx="45262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4213D"/>
                </a:solidFill>
                <a:latin typeface="微软雅黑" panose="020B0503020204020204" charset="-122"/>
              </a:rPr>
              <a:t>Comate 4.14.0 / Copilot 1.17.0 / Qoder CN 2026.917</a:t>
            </a:r>
            <a:endParaRPr sz="1250" b="0">
              <a:solidFill>
                <a:srgbClr val="14213D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4213D"/>
                </a:solidFill>
                <a:latin typeface="微软雅黑" panose="020B0503020204020204" charset="-122"/>
              </a:rPr>
              <a:t>都在同一台机器、同一个工程里跑过——</a:t>
            </a:r>
            <a:endParaRPr sz="1250" b="0">
              <a:solidFill>
                <a:srgbClr val="14213D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4213D"/>
                </a:solidFill>
                <a:latin typeface="微软雅黑" panose="020B0503020204020204" charset="-122"/>
              </a:rPr>
              <a:t>对比数据来自实测，不是查资料。</a:t>
            </a:r>
            <a:endParaRPr sz="1250" b="0">
              <a:solidFill>
                <a:srgbClr val="14213D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微软雅黑" panose="020B0503020204020204" charset="-122"/>
              </a:rPr>
              <a:t>实施路径</a:t>
            </a:r>
            <a:endParaRPr sz="12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微软雅黑" panose="020B0503020204020204" charset="-122"/>
              </a:rPr>
              <a:t>安装：先装手，再装窗口</a:t>
            </a:r>
            <a:endParaRPr sz="29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微软雅黑" panose="020B0503020204020204" charset="-122"/>
              </a:rPr>
              <a:t>4</a:t>
            </a:r>
            <a:endParaRPr sz="11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8308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微软雅黑" panose="020B0503020204020204" charset="-122"/>
              </a:rPr>
              <a:t>STEP 1</a:t>
            </a:r>
            <a:endParaRPr sz="11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41832" y="2084831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微软雅黑" panose="020B0503020204020204" charset="-122"/>
              </a:rPr>
              <a:t>装 Node 与 CLI</a:t>
            </a:r>
            <a:endParaRPr sz="17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41832" y="2578608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微软雅黑" panose="020B0503020204020204" charset="-122"/>
              </a:rPr>
              <a:t>npm i -g @anthropic-ai/claude-code</a:t>
            </a:r>
            <a:endParaRPr sz="1150" b="0">
              <a:solidFill>
                <a:srgbClr val="1B4AA8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微软雅黑" panose="020B0503020204020204" charset="-122"/>
              </a:rPr>
              <a:t>claude --version → 2.1.283</a:t>
            </a:r>
            <a:endParaRPr sz="1150" b="0">
              <a:solidFill>
                <a:srgbClr val="1B4AA8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41832" y="373075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微软雅黑" panose="020B0503020204020204" charset="-122"/>
              </a:rPr>
              <a:t>Agent 主程序：读写文件、跑命令</a:t>
            </a:r>
            <a:endParaRPr sz="11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142231" y="26974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D6DEEA"/>
                </a:solidFill>
                <a:latin typeface="微软雅黑" panose="020B0503020204020204" charset="-122"/>
              </a:rPr>
              <a:t>&gt;</a:t>
            </a:r>
            <a:endParaRPr sz="2000" b="1">
              <a:solidFill>
                <a:srgbClr val="D6DEEA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70832" y="1600200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78308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微软雅黑" panose="020B0503020204020204" charset="-122"/>
              </a:rPr>
              <a:t>STEP 2</a:t>
            </a:r>
            <a:endParaRPr sz="11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26864" y="2084831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微软雅黑" panose="020B0503020204020204" charset="-122"/>
              </a:rPr>
              <a:t>PyCharm 装插件</a:t>
            </a:r>
            <a:endParaRPr sz="17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26864" y="2578608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微软雅黑" panose="020B0503020204020204" charset="-122"/>
              </a:rPr>
              <a:t>Settings → Plugins →</a:t>
            </a:r>
            <a:endParaRPr sz="1150" b="0">
              <a:solidFill>
                <a:srgbClr val="1B4AA8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微软雅黑" panose="020B0503020204020204" charset="-122"/>
              </a:rPr>
              <a:t>搜 Claude Code → Install → 重启</a:t>
            </a:r>
            <a:endParaRPr sz="1150" b="0">
              <a:solidFill>
                <a:srgbClr val="1B4AA8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626864" y="373075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微软雅黑" panose="020B0503020204020204" charset="-122"/>
              </a:rPr>
              <a:t>交互窗口 + 上下文桥接</a:t>
            </a:r>
            <a:endParaRPr sz="11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827264" y="269748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D6DEEA"/>
                </a:solidFill>
                <a:latin typeface="微软雅黑" panose="020B0503020204020204" charset="-122"/>
              </a:rPr>
              <a:t>&gt;</a:t>
            </a:r>
            <a:endParaRPr sz="2000" b="1">
              <a:solidFill>
                <a:srgbClr val="D6DEEA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055864" y="1600200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1896" y="178308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B"/>
                </a:solidFill>
                <a:latin typeface="微软雅黑" panose="020B0503020204020204" charset="-122"/>
              </a:rPr>
              <a:t>STEP 3</a:t>
            </a:r>
            <a:endParaRPr sz="11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11896" y="2084831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微软雅黑" panose="020B0503020204020204" charset="-122"/>
              </a:rPr>
              <a:t>打开面板握手</a:t>
            </a:r>
            <a:endParaRPr sz="17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11896" y="2578608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微软雅黑" panose="020B0503020204020204" charset="-122"/>
              </a:rPr>
              <a:t>右侧 Claude Code 图标 →</a:t>
            </a:r>
            <a:endParaRPr sz="1150" b="0">
              <a:solidFill>
                <a:srgbClr val="1B4AA8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4AA8"/>
                </a:solidFill>
                <a:latin typeface="微软雅黑" panose="020B0503020204020204" charset="-122"/>
              </a:rPr>
              <a:t>生成 .idea\claudeCodeTabState.xml</a:t>
            </a:r>
            <a:endParaRPr sz="1150" b="0">
              <a:solidFill>
                <a:srgbClr val="1B4AA8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11896" y="373075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微软雅黑" panose="020B0503020204020204" charset="-122"/>
              </a:rPr>
              <a:t>握手成功的证据文件</a:t>
            </a:r>
            <a:endParaRPr sz="11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85800" y="4572000"/>
          <a:ext cx="108356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4023360"/>
                <a:gridCol w="3429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组件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版本 / 路径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作用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1B4AA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PyCharm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2026.2.2 · PY-262.10315.174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解释器、调试、诊断、上下文来源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插件 idea-claude-code-gui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0.5.7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会话界面，把改动以 diff 回填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Claude Code CLI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2.1.283 · Node v24.17.0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执行：Read / Write / Edit / Bash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微软雅黑" panose="020B0503020204020204" charset="-122"/>
              </a:rPr>
              <a:t>关键配置</a:t>
            </a:r>
            <a:endParaRPr sz="12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微软雅黑" panose="020B0503020204020204" charset="-122"/>
              </a:rPr>
              <a:t>配置：API 地址、模型名、角色分工</a:t>
            </a:r>
            <a:endParaRPr sz="29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微软雅黑" panose="020B0503020204020204" charset="-122"/>
              </a:rPr>
              <a:t>5</a:t>
            </a:r>
            <a:endParaRPr sz="11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5577840" cy="2103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8FB6FF"/>
                </a:solidFill>
                <a:latin typeface="微软雅黑" panose="020B0503020204020204" charset="-122"/>
              </a:rPr>
              <a:t>C:\Users\16218\.claude\settings.json</a:t>
            </a:r>
            <a:endParaRPr sz="1050" b="0">
              <a:solidFill>
                <a:srgbClr val="8FB6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6112" y="2084831"/>
            <a:ext cx="52120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C9E3FF"/>
                </a:solidFill>
                <a:latin typeface="微软雅黑" panose="020B0503020204020204" charset="-122"/>
              </a:rPr>
              <a:t>"ANTHROPIC_BASE_URL": "https://api.deepseek.com/anthropic",</a:t>
            </a:r>
            <a:endParaRPr sz="1150" b="0">
              <a:solidFill>
                <a:srgbClr val="C9E3FF"/>
              </a:solidFill>
              <a:latin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C9E3FF"/>
                </a:solidFill>
                <a:latin typeface="微软雅黑" panose="020B0503020204020204" charset="-122"/>
              </a:rPr>
              <a:t>"ANTHROPIC_AUTH_TOKEN": "sk-****（脱敏）",</a:t>
            </a:r>
            <a:endParaRPr sz="1150" b="0">
              <a:solidFill>
                <a:srgbClr val="C9E3FF"/>
              </a:solidFill>
              <a:latin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C9E3FF"/>
                </a:solidFill>
                <a:latin typeface="微软雅黑" panose="020B0503020204020204" charset="-122"/>
              </a:rPr>
              <a:t>"ANTHROPIC_DEFAULT_SONNET_MODEL": "deepseek-flash"</a:t>
            </a:r>
            <a:endParaRPr sz="1150" b="0">
              <a:solidFill>
                <a:srgbClr val="C9E3FF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3886200"/>
          <a:ext cx="557784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74320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插件下拉显示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实际模型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1B4AA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Sonnet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deepseek-flash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Opus / Haiku / 兜底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deepseek-flash</a:t>
                      </a:r>
                      <a:endParaRPr sz="120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" y="4983480"/>
            <a:ext cx="5577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微软雅黑" panose="020B0503020204020204" charset="-122"/>
              </a:rPr>
              <a:t>模型名以网关回显为准：历史会话计费记录里服务端返回的是 DeepSeek-V4-Pro。</a:t>
            </a:r>
            <a:endParaRPr sz="11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583680" y="1600200"/>
            <a:ext cx="4937760" cy="457200"/>
          </a:xfrm>
          <a:prstGeom prst="rect">
            <a:avLst/>
          </a:prstGeom>
          <a:solidFill>
            <a:srgbClr val="1B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73352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角色分工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583680" y="2194560"/>
            <a:ext cx="49377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2322576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B4AA8"/>
                </a:solidFill>
                <a:latin typeface="微软雅黑" panose="020B0503020204020204" charset="-122"/>
              </a:rPr>
              <a:t>IDE（PyCharm）</a:t>
            </a:r>
            <a:endParaRPr sz="1300" b="1">
              <a:solidFill>
                <a:srgbClr val="1B4AA8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84848" y="2697480"/>
            <a:ext cx="4526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4213D"/>
                </a:solidFill>
                <a:latin typeface="微软雅黑" panose="020B0503020204020204" charset="-122"/>
              </a:rPr>
              <a:t>给上下文：解释器、断点、诊断、Git 视图</a:t>
            </a:r>
            <a:endParaRPr sz="1150" b="0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583680" y="3337560"/>
            <a:ext cx="4937760" cy="1051560"/>
          </a:xfrm>
          <a:prstGeom prst="rect">
            <a:avLst/>
          </a:prstGeom>
          <a:solidFill>
            <a:srgbClr val="EEF3FC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3465576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B4AA8"/>
                </a:solidFill>
                <a:latin typeface="微软雅黑" panose="020B0503020204020204" charset="-122"/>
              </a:rPr>
              <a:t>插件（GUI）</a:t>
            </a:r>
            <a:endParaRPr sz="1300" b="1">
              <a:solidFill>
                <a:srgbClr val="1B4AA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84848" y="3840480"/>
            <a:ext cx="4526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4213D"/>
                </a:solidFill>
                <a:latin typeface="微软雅黑" panose="020B0503020204020204" charset="-122"/>
              </a:rPr>
              <a:t>给界面：会话渲染、diff 回填、上下文投递</a:t>
            </a:r>
            <a:endParaRPr sz="1150" b="0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583680" y="4480560"/>
            <a:ext cx="49377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4608576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B4AA8"/>
                </a:solidFill>
                <a:latin typeface="微软雅黑" panose="020B0503020204020204" charset="-122"/>
              </a:rPr>
              <a:t>Agent（CLI）</a:t>
            </a:r>
            <a:endParaRPr sz="1300" b="1">
              <a:solidFill>
                <a:srgbClr val="1B4AA8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784848" y="4983480"/>
            <a:ext cx="4526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4213D"/>
                </a:solidFill>
                <a:latin typeface="微软雅黑" panose="020B0503020204020204" charset="-122"/>
              </a:rPr>
              <a:t>给手脚：读写文件、执行命令、多步编排</a:t>
            </a:r>
            <a:endParaRPr sz="1150" b="0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83680" y="5715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微软雅黑" panose="020B0503020204020204" charset="-122"/>
              </a:rPr>
              <a:t>一句话：IDE 给上下文，插件给界面，Agent 给手脚。</a:t>
            </a:r>
            <a:endParaRPr sz="1150" b="1">
              <a:solidFill>
                <a:srgbClr val="6B728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B"/>
                </a:solidFill>
                <a:latin typeface="微软雅黑" panose="020B0503020204020204" charset="-122"/>
              </a:rPr>
              <a:t>方案一 vs 方案二</a:t>
            </a:r>
            <a:endParaRPr sz="1200" b="1">
              <a:solidFill>
                <a:srgbClr val="2F6FEB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14213D"/>
                </a:solidFill>
                <a:latin typeface="微软雅黑" panose="020B0503020204020204" charset="-122"/>
              </a:rPr>
              <a:t>对比：建议层 vs 执行层</a:t>
            </a:r>
            <a:endParaRPr sz="2900" b="1">
              <a:solidFill>
                <a:srgbClr val="14213D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822960" cy="502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微软雅黑" panose="020B0503020204020204" charset="-122"/>
              </a:rPr>
              <a:t>8</a:t>
            </a:r>
            <a:endParaRPr sz="1100" b="0">
              <a:solidFill>
                <a:srgbClr val="6B7280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00200"/>
          <a:ext cx="108356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206240"/>
                <a:gridCol w="4480560"/>
              </a:tblGrid>
              <a:tr h="56692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维度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方案一（纯 IDE 插件）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1B4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方案二（Agent + 插件）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1B4A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执行主体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IDE 进程内的客户端，无执行权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IDE 外的独立进程，有文件与命令执行权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响应节奏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0.5–1.5 秒内出补全（Comate 配置）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单轮 API 约 80 秒，任务总时长可达数分钟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上下文范围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当前文件 + 约 30 行相邻上下文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整个工程，可自行 Read / Grep 任意文件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典型输入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「补全这个函数」「解释这段」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「跑通 test.py，报错就修好」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EEF3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主要成本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订阅费固定，风险约等于零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4213D"/>
                          </a:solidFill>
                          <a:latin typeface="微软雅黑" panose="020B0503020204020204" charset="-122"/>
                        </a:rPr>
                        <a:t>按 token 计费（单轮约 3 万 input），改错有代价</a:t>
                      </a:r>
                      <a:endParaRPr sz="1250">
                        <a:solidFill>
                          <a:srgbClr val="14213D"/>
                        </a:solidFill>
                        <a:latin typeface="微软雅黑" panose="020B0503020204020204" charset="-122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5532120"/>
            <a:ext cx="10835640" cy="685800"/>
          </a:xfrm>
          <a:prstGeom prst="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424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1B4AA8"/>
                </a:solidFill>
                <a:latin typeface="微软雅黑" panose="020B0503020204020204" charset="-122"/>
              </a:rPr>
              <a:t>结论：不是替代关系 —— 方案一守「写」这一段，方案二覆盖「读进来」与「跑出去」两端。</a:t>
            </a:r>
            <a:endParaRPr sz="1350" b="1">
              <a:solidFill>
                <a:srgbClr val="1B4AA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8FB6FF"/>
                </a:solidFill>
                <a:latin typeface="微软雅黑" panose="020B0503020204020204" charset="-122"/>
              </a:rPr>
              <a:t>5 分钟分享 · 现场可操作</a:t>
            </a:r>
            <a:endParaRPr sz="1400" b="1">
              <a:solidFill>
                <a:srgbClr val="8FB6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微软雅黑" panose="020B0503020204020204" charset="-122"/>
              </a:rPr>
              <a:t>谢谢，欢迎提问</a:t>
            </a:r>
            <a:endParaRPr sz="4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611880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C7D3E6"/>
                </a:solidFill>
                <a:latin typeface="微软雅黑" panose="020B0503020204020204" charset="-122"/>
              </a:rPr>
              <a:t>一个可以直接复现的结论：</a:t>
            </a:r>
            <a:endParaRPr sz="1500" b="0">
              <a:solidFill>
                <a:srgbClr val="C7D3E6"/>
              </a:solidFill>
              <a:latin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C7D3E6"/>
                </a:solidFill>
                <a:latin typeface="微软雅黑" panose="020B0503020204020204" charset="-122"/>
              </a:rPr>
              <a:t>先装手（Agent），再装窗口（插件），配置收口到 settings.json 一处。</a:t>
            </a:r>
            <a:endParaRPr sz="1500" b="0">
              <a:solidFill>
                <a:srgbClr val="C7D3E6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53949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FAFC6"/>
                </a:solidFill>
                <a:latin typeface="微软雅黑" panose="020B0503020204020204" charset="-122"/>
              </a:rPr>
              <a:t>肖俊涛 · 2405100606 · 2026-10-21</a:t>
            </a:r>
            <a:endParaRPr sz="1200" b="0">
              <a:solidFill>
                <a:srgbClr val="9FAFC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2219</Words>
  <Application>WPS 演示</Application>
  <PresentationFormat>On-screen Show (4:3)</PresentationFormat>
  <Paragraphs>226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WPS_1729403709</cp:lastModifiedBy>
  <cp:revision>3</cp:revision>
  <dcterms:created xsi:type="dcterms:W3CDTF">2013-01-27T09:14:00Z</dcterms:created>
  <dcterms:modified xsi:type="dcterms:W3CDTF">2026-10-22T14:34:24Z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7CA1065775F2447E944986213B9A20FB_13</vt:lpwstr>
  </property>
  <property fmtid="{D5CDD505-2E9C-101B-9397-08002B2CF9AE}" pid="3" name="KSOProductBuildVer">
    <vt:lpwstr>2052-12.1.0.29161</vt:lpwstr>
  </property>
</Properties>
</file>